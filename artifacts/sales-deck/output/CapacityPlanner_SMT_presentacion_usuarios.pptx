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aff8d1e6ee4183" /><Relationship Type="http://schemas.openxmlformats.org/officeDocument/2006/relationships/extended-properties" Target="/docProps/app.xml" Id="Rfaad00da11144278" /><Relationship Type="http://schemas.openxmlformats.org/officeDocument/2006/relationships/officeDocument" Target="/ppt/presentation.xml" Id="R65cad586af0546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f9210071824a14"/>
  </p:sldMasterIdLst>
  <p:notesMasterIdLst>
    <p:notesMasterId xmlns:r="http://schemas.openxmlformats.org/officeDocument/2006/relationships" r:id="R9c8c7c3a49ca4525"/>
  </p:notesMasterIdLst>
  <p:sldIdLst>
    <p:sldId xmlns:r="http://schemas.openxmlformats.org/officeDocument/2006/relationships" id="256" r:id="R8d60a6c8932748f5"/>
    <p:sldId xmlns:r="http://schemas.openxmlformats.org/officeDocument/2006/relationships" id="257" r:id="R26c3604280494bee"/>
    <p:sldId xmlns:r="http://schemas.openxmlformats.org/officeDocument/2006/relationships" id="258" r:id="Re9bf4f9f5f574bd0"/>
    <p:sldId xmlns:r="http://schemas.openxmlformats.org/officeDocument/2006/relationships" id="259" r:id="R88464c339117490c"/>
    <p:sldId xmlns:r="http://schemas.openxmlformats.org/officeDocument/2006/relationships" id="260" r:id="R87518e06c2224cf3"/>
    <p:sldId xmlns:r="http://schemas.openxmlformats.org/officeDocument/2006/relationships" id="261" r:id="R94b4ed27a13141be"/>
    <p:sldId xmlns:r="http://schemas.openxmlformats.org/officeDocument/2006/relationships" id="262" r:id="Rb4079a7231cc4460"/>
    <p:sldId xmlns:r="http://schemas.openxmlformats.org/officeDocument/2006/relationships" id="263" r:id="Rc8800564668e4b59"/>
    <p:sldId xmlns:r="http://schemas.openxmlformats.org/officeDocument/2006/relationships" id="264" r:id="Rd3b6e46042884537"/>
    <p:sldId xmlns:r="http://schemas.openxmlformats.org/officeDocument/2006/relationships" id="265" r:id="R8cce3caf18b44384"/>
    <p:sldId xmlns:r="http://schemas.openxmlformats.org/officeDocument/2006/relationships" id="266" r:id="R9f4c1902ef9041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9c06827d2e4ecc" /><Relationship Type="http://schemas.openxmlformats.org/officeDocument/2006/relationships/slideMaster" Target="/ppt/slideMasters/slideMaster1.xml" Id="Rd7f9210071824a14" /><Relationship Type="http://schemas.openxmlformats.org/officeDocument/2006/relationships/notesMaster" Target="/ppt/notesMasters/notesMaster1.xml" Id="R9c8c7c3a49ca4525" /><Relationship Type="http://schemas.openxmlformats.org/officeDocument/2006/relationships/presProps" Target="/ppt/presProps.xml" Id="R5d01227630b1432c" /><Relationship Type="http://schemas.openxmlformats.org/officeDocument/2006/relationships/tableStyles" Target="/ppt/tableStyles.xml" Id="R52c286679d8c4c57" /><Relationship Type="http://schemas.openxmlformats.org/officeDocument/2006/relationships/slide" Target="/ppt/slides/slide1.xml" Id="R8d60a6c8932748f5" /><Relationship Type="http://schemas.openxmlformats.org/officeDocument/2006/relationships/slide" Target="/ppt/slides/slide2.xml" Id="R26c3604280494bee" /><Relationship Type="http://schemas.openxmlformats.org/officeDocument/2006/relationships/slide" Target="/ppt/slides/slide3.xml" Id="Re9bf4f9f5f574bd0" /><Relationship Type="http://schemas.openxmlformats.org/officeDocument/2006/relationships/slide" Target="/ppt/slides/slide4.xml" Id="R88464c339117490c" /><Relationship Type="http://schemas.openxmlformats.org/officeDocument/2006/relationships/slide" Target="/ppt/slides/slide5.xml" Id="R87518e06c2224cf3" /><Relationship Type="http://schemas.openxmlformats.org/officeDocument/2006/relationships/slide" Target="/ppt/slides/slide6.xml" Id="R94b4ed27a13141be" /><Relationship Type="http://schemas.openxmlformats.org/officeDocument/2006/relationships/slide" Target="/ppt/slides/slide7.xml" Id="Rb4079a7231cc4460" /><Relationship Type="http://schemas.openxmlformats.org/officeDocument/2006/relationships/slide" Target="/ppt/slides/slide8.xml" Id="Rc8800564668e4b59" /><Relationship Type="http://schemas.openxmlformats.org/officeDocument/2006/relationships/slide" Target="/ppt/slides/slide9.xml" Id="Rd3b6e46042884537" /><Relationship Type="http://schemas.openxmlformats.org/officeDocument/2006/relationships/slide" Target="/ppt/slides/slide10.xml" Id="R8cce3caf18b44384" /><Relationship Type="http://schemas.openxmlformats.org/officeDocument/2006/relationships/slide" Target="/ppt/slides/slide11.xml" Id="R9f4c1902ef9041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d30d7c99a49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b4fd9e6f004ccb" /><Relationship Type="http://schemas.openxmlformats.org/officeDocument/2006/relationships/notesMaster" Target="/ppt/notesMasters/notesMaster1.xml" Id="R246a1a2fe66344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76e0e489754519" /><Relationship Type="http://schemas.openxmlformats.org/officeDocument/2006/relationships/notesMaster" Target="/ppt/notesMasters/notesMaster1.xml" Id="Re901b35790da49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c2f688c6024622" /><Relationship Type="http://schemas.openxmlformats.org/officeDocument/2006/relationships/notesMaster" Target="/ppt/notesMasters/notesMaster1.xml" Id="R7fcbefa885a84d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c898cec4f445a6" /><Relationship Type="http://schemas.openxmlformats.org/officeDocument/2006/relationships/notesMaster" Target="/ppt/notesMasters/notesMaster1.xml" Id="R1baf19c57de040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e284f831e0441e" /><Relationship Type="http://schemas.openxmlformats.org/officeDocument/2006/relationships/notesMaster" Target="/ppt/notesMasters/notesMaster1.xml" Id="Rdee04410825e47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1eacc0a8024505" /><Relationship Type="http://schemas.openxmlformats.org/officeDocument/2006/relationships/notesMaster" Target="/ppt/notesMasters/notesMaster1.xml" Id="Re18ec2ed5fb94b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d48d2cc90b429f" /><Relationship Type="http://schemas.openxmlformats.org/officeDocument/2006/relationships/notesMaster" Target="/ppt/notesMasters/notesMaster1.xml" Id="Re4ac5242fb1543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7b6489cc48452d" /><Relationship Type="http://schemas.openxmlformats.org/officeDocument/2006/relationships/notesMaster" Target="/ppt/notesMasters/notesMaster1.xml" Id="Rc2685852fdd047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1ad8b740f74f6c" /><Relationship Type="http://schemas.openxmlformats.org/officeDocument/2006/relationships/notesMaster" Target="/ppt/notesMasters/notesMaster1.xml" Id="Rd9bdad75bb3f4b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8eb72a28b341a6" /><Relationship Type="http://schemas.openxmlformats.org/officeDocument/2006/relationships/notesMaster" Target="/ppt/notesMasters/notesMaster1.xml" Id="R009c411571814d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29a75ae627402e" /><Relationship Type="http://schemas.openxmlformats.org/officeDocument/2006/relationships/notesMaster" Target="/ppt/notesMasters/notesMaster1.xml" Id="Ra5c600e20f8b47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f6bbd843449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2d22be079d40b5" /><Relationship Type="http://schemas.openxmlformats.org/officeDocument/2006/relationships/slideLayout" Target="/ppt/slideLayouts/slideLayout1.xml" Id="R7f5a1b2b1e084e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a1b2b1e084e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c519a14944f35" /><Relationship Type="http://schemas.openxmlformats.org/officeDocument/2006/relationships/image" Target="/ppt/media/image.png" Id="Rd686b9792b19413d" /><Relationship Type="http://schemas.openxmlformats.org/officeDocument/2006/relationships/notesSlide" Target="/ppt/notesSlides/notesSlide1.xml" Id="Rc0404f5e4e5040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3ea1c952b472f" /><Relationship Type="http://schemas.openxmlformats.org/officeDocument/2006/relationships/notesSlide" Target="/ppt/notesSlides/notesSlide2.xml" Id="R384aa65067a44f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e82e20e7c437e" /><Relationship Type="http://schemas.openxmlformats.org/officeDocument/2006/relationships/notesSlide" Target="/ppt/notesSlides/notesSlide3.xml" Id="R6e3bf924ddae4a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51949d89940ed" /><Relationship Type="http://schemas.openxmlformats.org/officeDocument/2006/relationships/image" Target="/ppt/media/image2.png" Id="R8a0649791b39461f" /><Relationship Type="http://schemas.openxmlformats.org/officeDocument/2006/relationships/notesSlide" Target="/ppt/notesSlides/notesSlide4.xml" Id="Rf000907c073549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c181ba3074d03" /><Relationship Type="http://schemas.openxmlformats.org/officeDocument/2006/relationships/image" Target="/ppt/media/image3.png" Id="Rfe9989178774443f" /><Relationship Type="http://schemas.openxmlformats.org/officeDocument/2006/relationships/notesSlide" Target="/ppt/notesSlides/notesSlide5.xml" Id="Rd5eadb6af06046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ceff6329f4de0" /><Relationship Type="http://schemas.openxmlformats.org/officeDocument/2006/relationships/image" Target="/ppt/media/image4.png" Id="Re72df2d601eb4dc1" /><Relationship Type="http://schemas.openxmlformats.org/officeDocument/2006/relationships/notesSlide" Target="/ppt/notesSlides/notesSlide6.xml" Id="R32ec4f66c73748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6edb813314480" /><Relationship Type="http://schemas.openxmlformats.org/officeDocument/2006/relationships/image" Target="/ppt/media/image5.png" Id="Re4244e38f7c54b17" /><Relationship Type="http://schemas.openxmlformats.org/officeDocument/2006/relationships/notesSlide" Target="/ppt/notesSlides/notesSlide7.xml" Id="Rb45ddad4f6054f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bfa3579be460c" /><Relationship Type="http://schemas.openxmlformats.org/officeDocument/2006/relationships/image" Target="/ppt/media/image6.png" Id="R82226f11955740ca" /><Relationship Type="http://schemas.openxmlformats.org/officeDocument/2006/relationships/notesSlide" Target="/ppt/notesSlides/notesSlide8.xml" Id="Rfbc81e16634e4c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84b8daa734bba" /><Relationship Type="http://schemas.openxmlformats.org/officeDocument/2006/relationships/notesSlide" Target="/ppt/notesSlides/notesSlide9.xml" Id="Rf5d240414ed545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c48ed46864d73" /><Relationship Type="http://schemas.openxmlformats.org/officeDocument/2006/relationships/image" Target="/ppt/media/image7.png" Id="R246cbd23c18a4d5b" /><Relationship Type="http://schemas.openxmlformats.org/officeDocument/2006/relationships/notesSlide" Target="/ppt/notesSlides/notesSlide10.xml" Id="Ra87f8b140a434b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420ebc9ea4bcc" /><Relationship Type="http://schemas.openxmlformats.org/officeDocument/2006/relationships/notesSlide" Target="/ppt/notesSlides/notesSlide11.xml" Id="R80c23866f82445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6b9792b19413d"/>
          <a:srcRect xmlns:a="http://schemas.openxmlformats.org/drawingml/2006/main" l="20486" t="0" r="204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oundRect">
            <a:avLst>
              <a:gd name="adj" fmla="val 1765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0FF70-A98C-4721-A46B-9FFD7934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59CEF-474C-41F7-BF58-C908D12A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Capacity Planner SMT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33620-3DF2-4695-ABCC-EB49B468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BE6"/>
                </a:solidFill>
              </a:defRPr>
            </a:pPr>
            <a:r>
              <a:rPr sz="1800" b="0">
                <a:solidFill>
                  <a:srgbClr val="DCEBE6"/>
                </a:solidFill>
              </a:rPr>
              <a:t>Planeacion de produccion con demanda, capacidad y alertas en una sola vista.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E9D29-1D4E-4B15-91A5-1570A187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000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4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123AC-68B5-4F08-A76C-12C59EAA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350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Para planeadores, lideres de produccion y equipos que necesitan decidir rapido donde producir y donde ajustar.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C055B-A27B-42E8-834E-9D59AD17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D4CB"/>
                </a:solidFill>
              </a:defRPr>
            </a:pPr>
            <a:r>
              <a:rPr sz="1050" b="0">
                <a:solidFill>
                  <a:srgbClr val="B9D4CB"/>
                </a:solidFill>
              </a:rPr>
              <a:t>Presentacion funcional · SMT</a:t>
            </a:r>
          </a:p>
        </p:txBody>
      </p:sp>
    </p:spTree>
    <p:extLst>
      <p:ext uri="{BB962C8B-B14F-4D97-AF65-F5344CB8AC3E}">
        <p14:creationId xmlns:p14="http://schemas.microsoft.com/office/powerpoint/2010/main" val="1542395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61C31-53D7-41C1-A3C6-6DE6157B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6"/>
                </a:solidFill>
              </a:defRPr>
            </a:pPr>
            <a:r>
              <a:rPr sz="975" b="1">
                <a:solidFill>
                  <a:srgbClr val="173F36"/>
                </a:solidFill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13A8C-16F9-4C58-92E6-A7268E83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25"/>
                </a:solidFill>
              </a:defRPr>
            </a:pPr>
            <a:r>
              <a:rPr sz="2550" b="1">
                <a:solidFill>
                  <a:srgbClr val="102A25"/>
                </a:solidFill>
              </a:rPr>
              <a:t>El reto que resuelve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84891-7F82-4D25-BDCC-6FE5535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5B"/>
                </a:solidFill>
              </a:defRPr>
            </a:pPr>
            <a:r>
              <a:rPr sz="1650" b="0">
                <a:solidFill>
                  <a:srgbClr val="52615B"/>
                </a:solidFill>
              </a:rPr>
              <a:t>La planeacion SMT suele vivir entre archivos de Excel, formulas, cambios de demanda y decisiones urgentes sobre lineas.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E856D-DA91-4526-A15B-509BD39F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4F7C2-1D65-4785-8A38-9D19D40F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Saber si una linea puede cumplir antes de comprometer produccion.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D34D6-DFF6-45BA-AA5B-1FC1DBA0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9A23F-F9D0-4F5C-ADA5-EA69CB97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Detectar sobrecarga por mes, familia y linea sin revisar celda por celda.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24E40-24D5-4A00-BD10-570478CC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772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3C1D4-A63E-4A75-91B6-4A2FD37E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Mover familias o ajustar factores cuando cambia la prioridad del cliente.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B5D05-A9F0-4B5F-B596-86DE5C66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D54BC-BAB9-4810-9719-5A1E321E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Importar informacion sin perder trazabilidad ni depender de formulas ocultas.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43AD9-3244-458F-AA56-2CA0AC12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095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6A1CF-8F54-4068-A45E-C313FD74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47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25"/>
                </a:solidFill>
              </a:defRPr>
            </a:pPr>
            <a:r>
              <a:rPr sz="1800" b="1">
                <a:solidFill>
                  <a:srgbClr val="102A25"/>
                </a:solidFill>
              </a:rPr>
              <a:t>Antes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A837B-52C6-4F06-A09D-E7CF7269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5B"/>
                </a:solidFill>
              </a:defRPr>
            </a:pPr>
            <a:r>
              <a:rPr sz="1725" b="0">
                <a:solidFill>
                  <a:srgbClr val="52615B"/>
                </a:solidFill>
              </a:rPr>
              <a:t>Archivos separados</a:t>
            </a:r>
          </a:p>
          <a:p xmlns:a="http://schemas.openxmlformats.org/drawingml/2006/main">
            <a:pPr algn="l">
              <a:defRPr sz="1725" b="0">
                <a:solidFill>
                  <a:srgbClr val="52615B"/>
                </a:solidFill>
              </a:defRPr>
            </a:pPr>
            <a:r>
              <a:rPr sz="1725" b="0">
                <a:solidFill>
                  <a:srgbClr val="52615B"/>
                </a:solidFill>
              </a:rPr>
              <a:t>Revision manual</a:t>
            </a:r>
          </a:p>
          <a:p xmlns:a="http://schemas.openxmlformats.org/drawingml/2006/main">
            <a:pPr algn="l">
              <a:defRPr sz="1725" b="0">
                <a:solidFill>
                  <a:srgbClr val="52615B"/>
                </a:solidFill>
              </a:defRPr>
            </a:pPr>
            <a:r>
              <a:rPr sz="1725" b="0">
                <a:solidFill>
                  <a:srgbClr val="52615B"/>
                </a:solidFill>
              </a:rPr>
              <a:t>Riesgo de error en formulas</a:t>
            </a:r>
          </a:p>
          <a:p xmlns:a="http://schemas.openxmlformats.org/drawingml/2006/main">
            <a:pPr algn="l">
              <a:defRPr sz="1725" b="0">
                <a:solidFill>
                  <a:srgbClr val="52615B"/>
                </a:solidFill>
              </a:defRPr>
            </a:pPr>
            <a:r>
              <a:rPr sz="1725" b="0">
                <a:solidFill>
                  <a:srgbClr val="52615B"/>
                </a:solidFill>
              </a:rPr>
              <a:t>Visibilidad limitada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DC361-E685-4239-9A1B-4A6470F6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95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F36"/>
                </a:solidFill>
              </a:defRPr>
            </a:pPr>
            <a:r>
              <a:rPr sz="1800" b="1">
                <a:solidFill>
                  <a:srgbClr val="173F36"/>
                </a:solidFill>
              </a:rPr>
              <a:t>Ahora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BC171-3E9B-44CF-B3B0-8E3EDE38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25"/>
                </a:solidFill>
              </a:defRPr>
            </a:pPr>
            <a:r>
              <a:rPr sz="1650" b="0">
                <a:solidFill>
                  <a:srgbClr val="102A25"/>
                </a:solidFill>
              </a:rPr>
              <a:t>Un flujo web, validado y accionable.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19B6D-3E6B-4817-A98C-E604F6B6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B"/>
                </a:solidFill>
              </a:defRPr>
            </a:pPr>
            <a:r>
              <a:rPr sz="900" b="0">
                <a:solidFill>
                  <a:srgbClr val="52615B"/>
                </a:solidFill>
              </a:rPr>
              <a:t>Capacity Planner SMT · 01</a:t>
            </a:r>
          </a:p>
        </p:txBody>
      </p:sp>
    </p:spTree>
    <p:extLst>
      <p:ext uri="{BB962C8B-B14F-4D97-AF65-F5344CB8AC3E}">
        <p14:creationId xmlns:p14="http://schemas.microsoft.com/office/powerpoint/2010/main" val="1267954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A88EAF-164F-4399-B7E8-571E617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6"/>
                </a:solidFill>
              </a:defRPr>
            </a:pPr>
            <a:r>
              <a:rPr sz="975" b="1">
                <a:solidFill>
                  <a:srgbClr val="173F36"/>
                </a:solidFill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4261F-00E6-4DFF-9EE5-E947D2E3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25"/>
                </a:solidFill>
              </a:defRPr>
            </a:pPr>
            <a:r>
              <a:rPr sz="2550" b="1">
                <a:solidFill>
                  <a:srgbClr val="102A25"/>
                </a:solidFill>
              </a:rPr>
              <a:t>Lo que hace 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083A8-0086-4997-8A6A-DD661FAC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5B"/>
                </a:solidFill>
              </a:defRPr>
            </a:pPr>
            <a:r>
              <a:rPr sz="1650" b="0">
                <a:solidFill>
                  <a:srgbClr val="52615B"/>
                </a:solidFill>
              </a:rPr>
              <a:t>Convierte volumen, UPH, distribucion y calendarios en vistas operativas para decidir donde producir.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B8515-336C-47A9-9475-6369B7D3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695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18AAE-1195-4633-BB2A-99154707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6675" cy="1028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9E220-DC5E-4485-BF28-BFC41E94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B"/>
                </a:solidFill>
              </a:defRPr>
            </a:pPr>
            <a:r>
              <a:rPr sz="975" b="0">
                <a:solidFill>
                  <a:srgbClr val="52615B"/>
                </a:solidFill>
              </a:rPr>
              <a:t>Demanda asignada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AC961-D728-4929-A36F-B8F7FC3B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5"/>
                </a:solidFill>
              </a:defRPr>
            </a:pPr>
            <a:r>
              <a:rPr sz="2100" b="1">
                <a:solidFill>
                  <a:srgbClr val="102A25"/>
                </a:solidFill>
              </a:rPr>
              <a:t>99,272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309BB-968D-4B26-884F-24D7094C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76500"/>
            <a:ext cx="1695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1FC34-A1BB-4EAF-9D62-108EF9B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76500"/>
            <a:ext cx="66675" cy="1028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72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61736-DC3F-4118-B5E9-B8ED7056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B"/>
                </a:solidFill>
              </a:defRPr>
            </a:pPr>
            <a:r>
              <a:rPr sz="975" b="0">
                <a:solidFill>
                  <a:srgbClr val="52615B"/>
                </a:solidFill>
              </a:rPr>
              <a:t>Lineas SMT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BA7EE-A003-45A0-A4DF-6A9E63BF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3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5"/>
                </a:solidFill>
              </a:defRPr>
            </a:pPr>
            <a:r>
              <a:rPr sz="2100" b="1">
                <a:solidFill>
                  <a:srgbClr val="102A25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C2606-F477-4F1E-871F-EB608CB6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1695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54DFE-E9F4-4D2B-A6B3-A4C43647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66675" cy="1028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656CF-FC99-49DA-9773-7C7C0782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47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B"/>
                </a:solidFill>
              </a:defRPr>
            </a:pPr>
            <a:r>
              <a:rPr sz="975" b="0">
                <a:solidFill>
                  <a:srgbClr val="52615B"/>
                </a:solidFill>
              </a:rPr>
              <a:t>Familias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6E296-B6B4-4266-AF07-955134BA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5"/>
                </a:solidFill>
              </a:defRPr>
            </a:pPr>
            <a:r>
              <a:rPr sz="2100" b="1">
                <a:solidFill>
                  <a:srgbClr val="102A25"/>
                </a:solidFill>
              </a:rPr>
              <a:t>53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3F186-8DF9-4983-A4C1-63D0A328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1695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85636-794A-495E-8C3A-29563A26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66675" cy="1028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C746C-816D-4914-8C6D-FAA81A23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B"/>
                </a:solidFill>
              </a:defRPr>
            </a:pPr>
            <a:r>
              <a:rPr sz="975" b="0">
                <a:solidFill>
                  <a:srgbClr val="52615B"/>
                </a:solidFill>
              </a:rPr>
              <a:t>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50409-C08E-44BE-AAC1-9F1C858A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33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5"/>
                </a:solidFill>
              </a:defRPr>
            </a:pPr>
            <a:r>
              <a:rPr sz="2100" b="1">
                <a:solidFill>
                  <a:srgbClr val="102A25"/>
                </a:solidFill>
              </a:rPr>
              <a:t>2 lineas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AC6C3-CD13-4408-9114-8D987D95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695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6401E-1C49-4648-A565-1BDBA172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66675" cy="1028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42ADE-9124-45B3-880A-D8C25D69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B"/>
                </a:solidFill>
              </a:defRPr>
            </a:pPr>
            <a:r>
              <a:rPr sz="975" b="0">
                <a:solidFill>
                  <a:srgbClr val="52615B"/>
                </a:solidFill>
              </a:rPr>
              <a:t>Sobrecarga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674EE5-253B-45C5-A32E-D003D59F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33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5"/>
                </a:solidFill>
              </a:defRPr>
            </a:pPr>
            <a:r>
              <a:rPr sz="2100" b="1">
                <a:solidFill>
                  <a:srgbClr val="102A25"/>
                </a:solidFill>
              </a:rPr>
              <a:t>2 lineas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A3D23-F58B-4E81-9985-FDE206E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25"/>
                </a:solidFill>
              </a:defRPr>
            </a:pPr>
            <a:r>
              <a:rPr sz="1950" b="1">
                <a:solidFill>
                  <a:srgbClr val="102A25"/>
                </a:solidFill>
              </a:rPr>
              <a:t>El sistema no reemplaza al planeador: le da una base consistente para revisar escenarios, validar datos y ajustar capacidad con criterio.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36D80-2EE9-464A-B96F-7464BC7C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B"/>
                </a:solidFill>
              </a:defRPr>
            </a:pPr>
            <a:r>
              <a:rPr sz="900" b="0">
                <a:solidFill>
                  <a:srgbClr val="52615B"/>
                </a:solidFill>
              </a:rPr>
              <a:t>Capacity Planner SMT · 02</a:t>
            </a:r>
          </a:p>
        </p:txBody>
      </p:sp>
    </p:spTree>
    <p:extLst>
      <p:ext uri="{BB962C8B-B14F-4D97-AF65-F5344CB8AC3E}">
        <p14:creationId xmlns:p14="http://schemas.microsoft.com/office/powerpoint/2010/main" val="1918700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97558-C706-41E4-961A-FB4B1BD0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6"/>
                </a:solidFill>
              </a:defRPr>
            </a:pPr>
            <a:r>
              <a:rPr sz="975" b="1">
                <a:solidFill>
                  <a:srgbClr val="173F36"/>
                </a:solidFill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279A8-7D86-4F17-8273-BB1BC104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25"/>
                </a:solidFill>
              </a:defRPr>
            </a:pPr>
            <a:r>
              <a:rPr sz="2550" b="1">
                <a:solidFill>
                  <a:srgbClr val="102A25"/>
                </a:solidFill>
              </a:rPr>
              <a:t>Summary SMT: vista ejecutiva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3A671-EDC9-4C60-8FB8-CB503527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5B"/>
                </a:solidFill>
              </a:defRPr>
            </a:pPr>
            <a:r>
              <a:rPr sz="1575" b="0">
                <a:solidFill>
                  <a:srgbClr val="52615B"/>
                </a:solidFill>
              </a:rPr>
              <a:t>La primera pantalla resume el trimestre: MPS total, lineas cargadas, cuello de botella y distribucion por BU.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5A5B2-E676-445E-B9AD-99EB6E9D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9A5DB-A4B3-4B8E-AFF5-983BD2E3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Detecta rapidamente donde esta el cuello de botella.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61556-DC42-4E97-B73E-527344C1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772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ED186-F53A-453F-A186-DE63B217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Muestra linealidad y proyeccion por BU.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1F0D7-6363-426C-8819-65E8A102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09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DE02B-11E2-415C-98FE-7DAB2901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Da contexto antes de entrar al detalle por linea.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649791b39461f"/>
          <a:stretch xmlns:a="http://schemas.openxmlformats.org/drawingml/2006/main"/>
        </p:blipFill>
        <p:spPr>
          <a:xfrm xmlns:a="http://schemas.openxmlformats.org/drawingml/2006/main">
            <a:off x="5334000" y="1333500"/>
            <a:ext cx="6096000" cy="3810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527C4-D3A1-4590-8C81-F20F4808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B"/>
                </a:solidFill>
              </a:defRPr>
            </a:pPr>
            <a:r>
              <a:rPr sz="900" b="0">
                <a:solidFill>
                  <a:srgbClr val="52615B"/>
                </a:solidFill>
              </a:rPr>
              <a:t>Capacity Planner SMT · 03</a:t>
            </a:r>
          </a:p>
        </p:txBody>
      </p:sp>
    </p:spTree>
    <p:extLst>
      <p:ext uri="{BB962C8B-B14F-4D97-AF65-F5344CB8AC3E}">
        <p14:creationId xmlns:p14="http://schemas.microsoft.com/office/powerpoint/2010/main" val="17188522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C77BD-F83C-4E65-BEAF-E582C462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6"/>
                </a:solidFill>
              </a:defRPr>
            </a:pPr>
            <a:r>
              <a:rPr sz="975" b="1">
                <a:solidFill>
                  <a:srgbClr val="173F36"/>
                </a:solidFill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A6F66-25A1-4C08-996A-A0C6BEA7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25"/>
                </a:solidFill>
              </a:defRPr>
            </a:pPr>
            <a:r>
              <a:rPr sz="2550" b="1">
                <a:solidFill>
                  <a:srgbClr val="102A25"/>
                </a:solidFill>
              </a:rPr>
              <a:t>Capacidad SMT: decision por linea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003E4-7235-4B57-BA54-83EC7F97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857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5B"/>
                </a:solidFill>
              </a:defRPr>
            </a:pPr>
            <a:r>
              <a:rPr sz="1575" b="0">
                <a:solidFill>
                  <a:srgbClr val="52615B"/>
                </a:solidFill>
              </a:rPr>
              <a:t>Aqui el planeador ve lineas, familias, distribucion, UPH, changeover, MPS, capacidad y delta por 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FFEA2-C520-4E05-A98C-137BC7EF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632FD-3504-4E39-A168-C5BD9039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Verde: hasta 85.4% de utilizacion.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1BA2A-94D0-4B2B-BFDC-AF084752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FC712-6CC2-44EB-8956-BE81AA26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Amarillo: de 85.5% a 99.4%.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1BE90-6B0C-4484-B7C7-926AA6CC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8C43F-7F8E-4543-88E0-869EE133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Rojo: arriba de 99.4%, requiere accion.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5740A-5750-4AE5-B29A-1B113450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815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772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15E41-0B76-4BA5-B131-BC91F705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Boton Editar para mover familia o ajustar factor.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989178774443f"/>
          <a:srcRect xmlns:a="http://schemas.openxmlformats.org/drawingml/2006/main" l="7933" t="0" r="79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762000"/>
            <a:ext cx="6667500" cy="4953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63EAC-9855-4B0C-A2C8-E5A59EF1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B"/>
                </a:solidFill>
              </a:defRPr>
            </a:pPr>
            <a:r>
              <a:rPr sz="900" b="0">
                <a:solidFill>
                  <a:srgbClr val="52615B"/>
                </a:solidFill>
              </a:rPr>
              <a:t>Capacity Planner SMT · 04</a:t>
            </a:r>
          </a:p>
        </p:txBody>
      </p:sp>
    </p:spTree>
    <p:extLst>
      <p:ext uri="{BB962C8B-B14F-4D97-AF65-F5344CB8AC3E}">
        <p14:creationId xmlns:p14="http://schemas.microsoft.com/office/powerpoint/2010/main" val="1903217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3A230-97C6-47E7-AFC5-91C2972D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6"/>
                </a:solidFill>
              </a:defRPr>
            </a:pPr>
            <a:r>
              <a:rPr sz="975" b="1">
                <a:solidFill>
                  <a:srgbClr val="173F36"/>
                </a:solidFill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E9D31-F38D-4E63-A685-8F431D82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25"/>
                </a:solidFill>
              </a:defRPr>
            </a:pPr>
            <a:r>
              <a:rPr sz="2550" b="1">
                <a:solidFill>
                  <a:srgbClr val="102A25"/>
                </a:solidFill>
              </a:rPr>
              <a:t>Administracion SMT: datos controlados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0D86B-6938-43A9-89D2-5980A523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5B"/>
                </a:solidFill>
              </a:defRPr>
            </a:pPr>
            <a:r>
              <a:rPr sz="1575" b="0">
                <a:solidFill>
                  <a:srgbClr val="52615B"/>
                </a:solidFill>
              </a:rPr>
              <a:t>Los catalogos ayudan a que el usuario no capture variantes de nombre ni valores inconsistentes.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52909-1C16-46D8-B4C5-7EAC088F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1C4E0-08DF-47F8-9561-0F501802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Familias, subfamilias y numeros de parte.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201F0-ED32-4EEE-B2D8-423D4FCB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772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C31F0-D4C9-436E-A86D-77086E80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UPH por familia y por linea.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AEB04-BF9A-40A5-9A95-BFD4E271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D176C-2502-4206-A57A-918D182F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Distribucion por linea y calendario SMT.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FDDA7-4A63-4A24-B53F-7614740B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BDA8A-9686-4D07-A366-73814513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Historial para revisar cambios importantes.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df2d601eb4dc1"/>
          <a:stretch xmlns:a="http://schemas.openxmlformats.org/drawingml/2006/main"/>
        </p:blipFill>
        <p:spPr>
          <a:xfrm xmlns:a="http://schemas.openxmlformats.org/drawingml/2006/main">
            <a:off x="5238750" y="1313259"/>
            <a:ext cx="6191250" cy="386953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E5905-1832-4A66-9048-DBDFE67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B"/>
                </a:solidFill>
              </a:defRPr>
            </a:pPr>
            <a:r>
              <a:rPr sz="900" b="0">
                <a:solidFill>
                  <a:srgbClr val="52615B"/>
                </a:solidFill>
              </a:rPr>
              <a:t>Capacity Planner SMT · 05</a:t>
            </a:r>
          </a:p>
        </p:txBody>
      </p:sp>
    </p:spTree>
    <p:extLst>
      <p:ext uri="{BB962C8B-B14F-4D97-AF65-F5344CB8AC3E}">
        <p14:creationId xmlns:p14="http://schemas.microsoft.com/office/powerpoint/2010/main" val="1528230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9AC1D-C4AA-4AA4-8771-AB158875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6"/>
                </a:solidFill>
              </a:defRPr>
            </a:pPr>
            <a:r>
              <a:rPr sz="975" b="1">
                <a:solidFill>
                  <a:srgbClr val="173F36"/>
                </a:solidFill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3266D-FA1D-494D-A3DE-BA02AFC3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25"/>
                </a:solidFill>
              </a:defRPr>
            </a:pPr>
            <a:r>
              <a:rPr sz="2550" b="1">
                <a:solidFill>
                  <a:srgbClr val="102A25"/>
                </a:solidFill>
              </a:rPr>
              <a:t>Importacion desde Excel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5A3ED-EB5B-44BA-999D-F684BC7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5B"/>
                </a:solidFill>
              </a:defRPr>
            </a:pPr>
            <a:r>
              <a:rPr sz="1500" b="0">
                <a:solidFill>
                  <a:srgbClr val="52615B"/>
                </a:solidFill>
              </a:rPr>
              <a:t>El sistema esta preparado para recibir plantillas sencillas y archivos FMD SMT. El usuario ve mensajes de estado, errores y validaciones antes de confiar en los datos.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D88BC-1EB0-4EAA-B500-8FCCDFDF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60A59-7AEE-4307-867B-F1B13259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Descarga plantillas oficiales.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F893B-7DC6-429F-A92F-0B24C9D7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772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0AB14-58EF-4EF2-BDDB-72D97418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Carga volumen, UPH y distribucion.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62EA3-2854-42B1-AF64-268BAFC8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A9A69-60AA-4D65-A503-C992CA01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Confirma cuando termina correctamente.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DA72F-346D-4D1B-8ABE-6BD5681F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E3101-8FCF-4483-8036-814E44D0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Marca datos faltantes o inconsistentes.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44e38f7c54b17"/>
          <a:stretch xmlns:a="http://schemas.openxmlformats.org/drawingml/2006/main"/>
        </p:blipFill>
        <p:spPr>
          <a:xfrm xmlns:a="http://schemas.openxmlformats.org/drawingml/2006/main">
            <a:off x="5238750" y="1322784"/>
            <a:ext cx="6191250" cy="3869531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39336-54CD-4E39-95BF-A2F4A6F2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B"/>
                </a:solidFill>
              </a:defRPr>
            </a:pPr>
            <a:r>
              <a:rPr sz="900" b="0">
                <a:solidFill>
                  <a:srgbClr val="52615B"/>
                </a:solidFill>
              </a:rPr>
              <a:t>Capacity Planner SMT · 06</a:t>
            </a:r>
          </a:p>
        </p:txBody>
      </p:sp>
    </p:spTree>
    <p:extLst>
      <p:ext uri="{BB962C8B-B14F-4D97-AF65-F5344CB8AC3E}">
        <p14:creationId xmlns:p14="http://schemas.microsoft.com/office/powerpoint/2010/main" val="122466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2FDC6-965F-4B41-A97E-D3810EF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6"/>
                </a:solidFill>
              </a:defRPr>
            </a:pPr>
            <a:r>
              <a:rPr sz="975" b="1">
                <a:solidFill>
                  <a:srgbClr val="173F36"/>
                </a:solidFill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CE26E-91EB-4B66-A30D-ADB2964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25"/>
                </a:solidFill>
              </a:defRPr>
            </a:pPr>
            <a:r>
              <a:rPr sz="2550" b="1">
                <a:solidFill>
                  <a:srgbClr val="102A25"/>
                </a:solidFill>
              </a:rPr>
              <a:t>Diagnostico antes de planear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2C94A-1F07-4AE0-98B9-2C6670F5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43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5B"/>
                </a:solidFill>
              </a:defRPr>
            </a:pPr>
            <a:r>
              <a:rPr sz="1575" b="0">
                <a:solidFill>
                  <a:srgbClr val="52615B"/>
                </a:solidFill>
              </a:rPr>
              <a:t>Antes de tomar decisiones, el sistema muestra si hay volumen, UPH, distribucion, calendario o targets pendientes.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2D9D8-1D8F-473A-9712-B4146E10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5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869A-ED0E-47FD-BAD9-B90C4E35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Prioriza hallazgos criticos.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23B43-AF61-4464-A0F9-8D5160BF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772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06ED4-00E1-492C-8A2A-CD806117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Explica la accion recomendada.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B04CE-D219-4665-B9E5-37FE226B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C0863-9483-4E56-A4EA-772FCA38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Reduce dudas al importar nuevos datos.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DD74B-6FA5-4F0D-8A72-9E61CEB8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50EA8-C68D-4339-9169-B56BCCB8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5"/>
                </a:solidFill>
              </a:defRPr>
            </a:pPr>
            <a:r>
              <a:rPr sz="1500" b="0">
                <a:solidFill>
                  <a:srgbClr val="102A25"/>
                </a:solidFill>
              </a:rPr>
              <a:t>Hace visible lo que antes quedaba oculto en Excel.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26f11955740ca"/>
          <a:stretch xmlns:a="http://schemas.openxmlformats.org/drawingml/2006/main"/>
        </p:blipFill>
        <p:spPr>
          <a:xfrm xmlns:a="http://schemas.openxmlformats.org/drawingml/2006/main">
            <a:off x="5238750" y="1322784"/>
            <a:ext cx="6191250" cy="3869531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85CCC-9E3C-4420-86E0-B950417C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B"/>
                </a:solidFill>
              </a:defRPr>
            </a:pPr>
            <a:r>
              <a:rPr sz="900" b="0">
                <a:solidFill>
                  <a:srgbClr val="52615B"/>
                </a:solidFill>
              </a:rPr>
              <a:t>Capacity Planner SMT · 07</a:t>
            </a:r>
          </a:p>
        </p:txBody>
      </p:sp>
    </p:spTree>
    <p:extLst>
      <p:ext uri="{BB962C8B-B14F-4D97-AF65-F5344CB8AC3E}">
        <p14:creationId xmlns:p14="http://schemas.microsoft.com/office/powerpoint/2010/main" val="11315994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902DC6-7E9A-4F22-AE70-B9AF8A8C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6"/>
                </a:solidFill>
              </a:defRPr>
            </a:pPr>
            <a:r>
              <a:rPr sz="975" b="1">
                <a:solidFill>
                  <a:srgbClr val="173F36"/>
                </a:solidFill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59DD2-6B2B-4149-AA0A-38991525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25"/>
                </a:solidFill>
              </a:defRPr>
            </a:pPr>
            <a:r>
              <a:rPr sz="2550" b="1">
                <a:solidFill>
                  <a:srgbClr val="102A25"/>
                </a:solidFill>
              </a:rPr>
              <a:t>Flujo de trabajo del planeador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3D499-9F65-4F32-AE75-58315954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5B"/>
                </a:solidFill>
              </a:defRPr>
            </a:pPr>
            <a:r>
              <a:rPr sz="1650" b="0">
                <a:solidFill>
                  <a:srgbClr val="52615B"/>
                </a:solidFill>
              </a:rPr>
              <a:t>Un proceso simple para operar el sistema semana a semana o cada vez que cambie el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8DF51-039C-4A75-915D-ECF7B260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866900" cy="2000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D326A-0618-47A2-AEB1-00A9D234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12784-903D-4F78-A7C3-925069FB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72F22-F7CF-4B82-9096-4451EF17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5"/>
                </a:solidFill>
              </a:defRPr>
            </a:pPr>
            <a:r>
              <a:rPr sz="1500" b="1">
                <a:solidFill>
                  <a:srgbClr val="102A25"/>
                </a:solidFill>
              </a:rPr>
              <a:t>Importar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B6EC6-8327-49EE-BFB7-45735297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5B"/>
                </a:solidFill>
              </a:defRPr>
            </a:pPr>
            <a:r>
              <a:rPr sz="1050" b="0">
                <a:solidFill>
                  <a:srgbClr val="52615B"/>
                </a:solidFill>
              </a:rPr>
              <a:t>Carga FMD SMT o plantillas CSV oficiales.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D3CD8-96AC-4694-BB4B-AD24DEAD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66900" cy="2000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3274F-F4F1-4B33-ABA9-90194FB0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90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D1E2D-109A-4773-8AA0-9AFE43F2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EDD1E-1D3B-43B6-8AAF-0C3B73BB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5"/>
                </a:solidFill>
              </a:defRPr>
            </a:pPr>
            <a:r>
              <a:rPr sz="1500" b="1">
                <a:solidFill>
                  <a:srgbClr val="102A25"/>
                </a:solidFill>
              </a:rPr>
              <a:t>Validar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80277-C5C9-4E03-9123-407071A2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338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5B"/>
                </a:solidFill>
              </a:defRPr>
            </a:pPr>
            <a:r>
              <a:rPr sz="1050" b="0">
                <a:solidFill>
                  <a:srgbClr val="52615B"/>
                </a:solidFill>
              </a:rPr>
              <a:t>Revisa diagnostico y corrige datos faltantes.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2EFC0-8966-4677-85E0-99EFF384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866900" cy="2000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E5F54-5ED2-475F-888D-C0264F2D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15DE8-64AF-4D51-A7B8-C9B224FD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67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1F6A8-2334-4F2A-8A88-089F2550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43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5"/>
                </a:solidFill>
              </a:defRPr>
            </a:pPr>
            <a:r>
              <a:rPr sz="1500" b="1">
                <a:solidFill>
                  <a:srgbClr val="102A25"/>
                </a:solidFill>
              </a:rPr>
              <a:t>Analizar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0E513-9C5D-4B22-BE85-9DE9D6BD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5B"/>
                </a:solidFill>
              </a:defRPr>
            </a:pPr>
            <a:r>
              <a:rPr sz="1050" b="0">
                <a:solidFill>
                  <a:srgbClr val="52615B"/>
                </a:solidFill>
              </a:rPr>
              <a:t>Consulta Summary y Capacidad SMT.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3AEC2-2ED4-4042-8D36-A1E57B07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866900" cy="2000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3EC82-3B66-40B5-9B08-D7080ACA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B13D5-8372-4B3E-83D7-57BFCEE9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41B0A-3118-4090-8DEA-EC60BBB0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5"/>
                </a:solidFill>
              </a:defRPr>
            </a:pPr>
            <a:r>
              <a:rPr sz="1500" b="1">
                <a:solidFill>
                  <a:srgbClr val="102A25"/>
                </a:solidFill>
              </a:rPr>
              <a:t>Ajustar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A2491-5A63-446C-B4FB-63CD69FE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338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5B"/>
                </a:solidFill>
              </a:defRPr>
            </a:pPr>
            <a:r>
              <a:rPr sz="1050" b="0">
                <a:solidFill>
                  <a:srgbClr val="52615B"/>
                </a:solidFill>
              </a:rPr>
              <a:t>Mueve familias o modifica factores.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D10A9-A950-4A56-B99C-0DF67EF4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1866900" cy="2000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D8E90-0A9C-4F8F-A0F4-16AE12FA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18FB2-C546-4D73-9ECF-6A005BBD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42C5C-3C23-4876-803B-C98C0D97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43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5"/>
                </a:solidFill>
              </a:defRPr>
            </a:pPr>
            <a:r>
              <a:rPr sz="1500" b="1">
                <a:solidFill>
                  <a:srgbClr val="102A25"/>
                </a:solidFill>
              </a:rPr>
              <a:t>Decidir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2C867B-16DE-415B-8EC9-549FD6E4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338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5B"/>
                </a:solidFill>
              </a:defRPr>
            </a:pPr>
            <a:r>
              <a:rPr sz="1050" b="0">
                <a:solidFill>
                  <a:srgbClr val="52615B"/>
                </a:solidFill>
              </a:rPr>
              <a:t>Identifica lineas sanas, en revision y sobrecargadas.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BEBF2B-0F13-4698-93EB-92F111FE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B"/>
                </a:solidFill>
              </a:defRPr>
            </a:pPr>
            <a:r>
              <a:rPr sz="900" b="0">
                <a:solidFill>
                  <a:srgbClr val="52615B"/>
                </a:solidFill>
              </a:rPr>
              <a:t>Capacity Planner SMT · 08</a:t>
            </a:r>
          </a:p>
        </p:txBody>
      </p:sp>
    </p:spTree>
    <p:extLst>
      <p:ext uri="{BB962C8B-B14F-4D97-AF65-F5344CB8AC3E}">
        <p14:creationId xmlns:p14="http://schemas.microsoft.com/office/powerpoint/2010/main" val="3272874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2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C4EF4-4811-4A60-AFD1-8B77B463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Valor para la operacion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85D38-D3B2-4637-9AA8-5B42CE6C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BE6"/>
                </a:solidFill>
              </a:defRPr>
            </a:pPr>
            <a:r>
              <a:rPr sz="1725" b="0">
                <a:solidFill>
                  <a:srgbClr val="DCEBE6"/>
                </a:solidFill>
              </a:rPr>
              <a:t>Menos tiempo buscando datos. Mas tiempo tomando decisiones.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EA040-0187-4651-8412-6EE10656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012B5-C167-4FB5-B3EF-886838D5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Visibilidad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7F54A-3FCD-42C1-8522-F06491EC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24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E6"/>
                </a:solidFill>
              </a:defRPr>
            </a:pPr>
            <a:r>
              <a:rPr sz="1200" b="0">
                <a:solidFill>
                  <a:srgbClr val="DCEBE6"/>
                </a:solidFill>
              </a:rPr>
              <a:t>Resumen ejecutivo y detalle por linea en la misma herramienta.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C0523-D8C8-427E-A345-3CA35002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76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EB0D1-DDC1-4BA2-8100-1830471C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209F2-9EC8-404A-B111-B13E514D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0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E6"/>
                </a:solidFill>
              </a:defRPr>
            </a:pPr>
            <a:r>
              <a:rPr sz="1200" b="0">
                <a:solidFill>
                  <a:srgbClr val="DCEBE6"/>
                </a:solidFill>
              </a:rPr>
              <a:t>Catalogos y plantillas para evitar errores de captura.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75BF8-8A11-4D87-A46B-436E21AD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476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7B599-5804-45BC-A692-753F27B7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Velocidad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2778E-76FF-4D27-A1BE-8C86C0F8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76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E6"/>
                </a:solidFill>
              </a:defRPr>
            </a:pPr>
            <a:r>
              <a:rPr sz="1200" b="0">
                <a:solidFill>
                  <a:srgbClr val="DCEBE6"/>
                </a:solidFill>
              </a:rPr>
              <a:t>Importacion y diagnostico para responder a cambios de demanda.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69666-C37B-4FFD-9A6C-478FEBCA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76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E4C3F-2433-41A8-BDC6-8179EEB1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Accion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F726B-741C-4BAE-A031-64E123F3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53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E6"/>
                </a:solidFill>
              </a:defRPr>
            </a:pPr>
            <a:r>
              <a:rPr sz="1200" b="0">
                <a:solidFill>
                  <a:srgbClr val="DCEBE6"/>
                </a:solidFill>
              </a:rPr>
              <a:t>Semaforos, deltas y edicion para balancear produccion.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cbd23c18a4d5b"/>
          <a:srcRect xmlns:a="http://schemas.openxmlformats.org/drawingml/2006/main" l="14489" t="0" r="144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047750"/>
            <a:ext cx="4762500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BAA2B-E14B-44B5-9F4B-F2CC9F3C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721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Un sistema listo para operar SMT hoy y crecer hacia mas procesos cuando el negocio lo pida.</a:t>
            </a:r>
          </a:p>
        </p:txBody>
      </p:sp>
    </p:spTree>
    <p:extLst>
      <p:ext uri="{BB962C8B-B14F-4D97-AF65-F5344CB8AC3E}">
        <p14:creationId xmlns:p14="http://schemas.microsoft.com/office/powerpoint/2010/main" val="8069592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057ADF-81F0-42B5-8164-49EEC552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6"/>
                </a:solidFill>
              </a:defRPr>
            </a:pPr>
            <a:r>
              <a:rPr sz="975" b="1">
                <a:solidFill>
                  <a:srgbClr val="173F36"/>
                </a:solidFill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8464D-34A5-4144-A447-7FF2D0D1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25"/>
                </a:solidFill>
              </a:defRPr>
            </a:pPr>
            <a:r>
              <a:rPr sz="2550" b="1">
                <a:solidFill>
                  <a:srgbClr val="102A25"/>
                </a:solidFill>
              </a:rPr>
              <a:t>Que puede mostrar en una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53F8D-9952-401D-B7E2-F502CB50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5B"/>
                </a:solidFill>
              </a:defRPr>
            </a:pPr>
            <a:r>
              <a:rPr sz="1650" b="0">
                <a:solidFill>
                  <a:srgbClr val="52615B"/>
                </a:solidFill>
              </a:rPr>
              <a:t>Guion sugerido para explicar el sistema en 7 minutos.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79AD3-5781-4584-A67D-4ABF75BC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4146D-2D18-4A4E-A99A-E50A25D7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57BB5-182B-4B2D-AE79-0197477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28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5"/>
                </a:solidFill>
              </a:defRPr>
            </a:pPr>
            <a:r>
              <a:rPr sz="1650" b="1">
                <a:solidFill>
                  <a:srgbClr val="102A25"/>
                </a:solidFill>
              </a:rPr>
              <a:t>Empezar en Summary SMT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FFED8-3C54-4E55-B534-5C344A85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5B"/>
                </a:solidFill>
              </a:defRPr>
            </a:pPr>
            <a:r>
              <a:rPr sz="1275" b="0">
                <a:solidFill>
                  <a:srgbClr val="52615B"/>
                </a:solidFill>
              </a:rPr>
              <a:t>Mostrar demanda total, cuello de botella y resumen por BU.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8F0D6-6ECF-452F-A548-71FD5A1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289CE-7F05-4412-8E7A-89A50A03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E5528-2C12-4CBB-A989-A51BE854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5"/>
                </a:solidFill>
              </a:defRPr>
            </a:pPr>
            <a:r>
              <a:rPr sz="1650" b="1">
                <a:solidFill>
                  <a:srgbClr val="102A25"/>
                </a:solidFill>
              </a:rPr>
              <a:t>Entrar a Capacidad SMT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8509D-9DAA-4A2B-9F8A-588C6086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671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5B"/>
                </a:solidFill>
              </a:defRPr>
            </a:pPr>
            <a:r>
              <a:rPr sz="1275" b="0">
                <a:solidFill>
                  <a:srgbClr val="52615B"/>
                </a:solidFill>
              </a:rPr>
              <a:t>Explicar semaforos, MPS, capacidad, delta y boton Editar.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35C56-3AA5-47B1-B735-4FAF84CF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D14F2-0206-43C8-883E-B0DAAD67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366A5-8A93-4E10-A0DD-A1E3D5B1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5"/>
                </a:solidFill>
              </a:defRPr>
            </a:pPr>
            <a:r>
              <a:rPr sz="1650" b="1">
                <a:solidFill>
                  <a:srgbClr val="102A25"/>
                </a:solidFill>
              </a:rPr>
              <a:t>Abrir Administracion SMT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72B45-CB99-4483-ADE6-D8B1E88B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5B"/>
                </a:solidFill>
              </a:defRPr>
            </a:pPr>
            <a:r>
              <a:rPr sz="1275" b="0">
                <a:solidFill>
                  <a:srgbClr val="52615B"/>
                </a:solidFill>
              </a:rPr>
              <a:t>Mostrar catalogos, UPH, distribucion y calendarios.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3E9B6-4F1B-4F1E-A03A-514DE4F6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EA0FE-E11D-44B2-8942-F49AB136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A0568-8E90-4E76-A19E-9E9584F5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5"/>
                </a:solidFill>
              </a:defRPr>
            </a:pPr>
            <a:r>
              <a:rPr sz="1650" b="1">
                <a:solidFill>
                  <a:srgbClr val="102A25"/>
                </a:solidFill>
              </a:rPr>
              <a:t>Cerrar con Importar y Diagnostico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8B433-B208-4326-8E59-FF7D0229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5B"/>
                </a:solidFill>
              </a:defRPr>
            </a:pPr>
            <a:r>
              <a:rPr sz="1275" b="0">
                <a:solidFill>
                  <a:srgbClr val="52615B"/>
                </a:solidFill>
              </a:rPr>
              <a:t>Probar que el flujo tiene validaciones y mensajes claros.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8258A3-EB7C-46DD-BC92-E0AFD16C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47900"/>
            <a:ext cx="2190750" cy="23812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1FB60-9165-43B4-B58D-E45D14CF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36"/>
                </a:solidFill>
              </a:defRPr>
            </a:pPr>
            <a:r>
              <a:rPr sz="1650" b="1">
                <a:solidFill>
                  <a:srgbClr val="173F36"/>
                </a:solidFill>
              </a:rPr>
              <a:t>Mensaje clave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5C660-0D0A-4CFA-B048-D35B669A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05150"/>
            <a:ext cx="1619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25"/>
                </a:solidFill>
              </a:defRPr>
            </a:pPr>
            <a:r>
              <a:rPr sz="1350" b="0">
                <a:solidFill>
                  <a:srgbClr val="102A25"/>
                </a:solidFill>
              </a:rPr>
              <a:t>La herramienta traduce Excel en decisiones operativas claras: importar, validar, balancear y actuar.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A6B48-982C-447A-9D88-BD198E1E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B"/>
                </a:solidFill>
              </a:defRPr>
            </a:pPr>
            <a:r>
              <a:rPr sz="900" b="0">
                <a:solidFill>
                  <a:srgbClr val="52615B"/>
                </a:solidFill>
              </a:rPr>
              <a:t>Capacity Planner SMT · 09</a:t>
            </a:r>
          </a:p>
        </p:txBody>
      </p:sp>
    </p:spTree>
    <p:extLst>
      <p:ext uri="{BB962C8B-B14F-4D97-AF65-F5344CB8AC3E}">
        <p14:creationId xmlns:p14="http://schemas.microsoft.com/office/powerpoint/2010/main" val="1803199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2026-09-28T14:58:36.1570000Z</dcterms:created>
  <dcterms:modified xsi:type="dcterms:W3CDTF">2026-09-28T14:58:36.1570000Z</dcterms:modified>
</coreProperties>
</file>